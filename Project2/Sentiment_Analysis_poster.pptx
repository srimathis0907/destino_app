
<file path=[Content_Types].xml><?xml version="1.0" encoding="utf-8"?>
<Types xmlns="http://schemas.openxmlformats.org/package/2006/content-types">
  <Default Extension="1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16459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E7FF"/>
    <a:srgbClr val="D6F5CC"/>
    <a:srgbClr val="FBDCBF"/>
    <a:srgbClr val="FFCFE7"/>
    <a:srgbClr val="D7F5CD"/>
    <a:srgbClr val="FCDCBF"/>
    <a:srgbClr val="FED67F"/>
    <a:srgbClr val="5F5F5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A292E-822C-5B01-864E-1344DD05A1C1}" v="125" dt="2025-05-25T07:34:22.574"/>
    <p1510:client id="{0FCCBB5E-EA9E-A34C-9B28-6939752BE5E3}" v="584" dt="2025-05-25T10:34:36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413" y="-102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8D023-532F-4C6A-A7C8-1C31980DE204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57475" y="1143000"/>
            <a:ext cx="1543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78BCC-104A-4353-8D76-47AB46D0F2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868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78BCC-104A-4353-8D76-47AB46D0F24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870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3"/>
            </a:lvl1pPr>
            <a:lvl2pPr marL="823285" indent="0" algn="ctr">
              <a:buNone/>
              <a:defRPr sz="3602"/>
            </a:lvl2pPr>
            <a:lvl3pPr marL="1646571" indent="0" algn="ctr">
              <a:buNone/>
              <a:defRPr sz="3241"/>
            </a:lvl3pPr>
            <a:lvl4pPr marL="2469856" indent="0" algn="ctr">
              <a:buNone/>
              <a:defRPr sz="2880"/>
            </a:lvl4pPr>
            <a:lvl5pPr marL="3293142" indent="0" algn="ctr">
              <a:buNone/>
              <a:defRPr sz="2880"/>
            </a:lvl5pPr>
            <a:lvl6pPr marL="4116427" indent="0" algn="ctr">
              <a:buNone/>
              <a:defRPr sz="2880"/>
            </a:lvl6pPr>
            <a:lvl7pPr marL="4939713" indent="0" algn="ctr">
              <a:buNone/>
              <a:defRPr sz="2880"/>
            </a:lvl7pPr>
            <a:lvl8pPr marL="5762993" indent="0" algn="ctr">
              <a:buNone/>
              <a:defRPr sz="2880"/>
            </a:lvl8pPr>
            <a:lvl9pPr marL="6586284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9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3">
                <a:solidFill>
                  <a:schemeClr val="tx1"/>
                </a:solidFill>
              </a:defRPr>
            </a:lvl1pPr>
            <a:lvl2pPr marL="823285" indent="0">
              <a:buNone/>
              <a:defRPr sz="3602">
                <a:solidFill>
                  <a:schemeClr val="tx1">
                    <a:tint val="75000"/>
                  </a:schemeClr>
                </a:solidFill>
              </a:defRPr>
            </a:lvl2pPr>
            <a:lvl3pPr marL="1646571" indent="0">
              <a:buNone/>
              <a:defRPr sz="3241">
                <a:solidFill>
                  <a:schemeClr val="tx1">
                    <a:tint val="75000"/>
                  </a:schemeClr>
                </a:solidFill>
              </a:defRPr>
            </a:lvl3pPr>
            <a:lvl4pPr marL="2469856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3142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6427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971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299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6284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9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0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7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7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1"/>
            </a:lvl1pPr>
            <a:lvl2pPr>
              <a:defRPr sz="5039"/>
            </a:lvl2pPr>
            <a:lvl3pPr>
              <a:defRPr sz="4323"/>
            </a:lvl3pPr>
            <a:lvl4pPr>
              <a:defRPr sz="3602"/>
            </a:lvl4pPr>
            <a:lvl5pPr>
              <a:defRPr sz="3602"/>
            </a:lvl5pPr>
            <a:lvl6pPr>
              <a:defRPr sz="3602"/>
            </a:lvl6pPr>
            <a:lvl7pPr>
              <a:defRPr sz="3602"/>
            </a:lvl7pPr>
            <a:lvl8pPr>
              <a:defRPr sz="3602"/>
            </a:lvl8pPr>
            <a:lvl9pPr>
              <a:defRPr sz="3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8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1"/>
            </a:lvl1pPr>
            <a:lvl2pPr marL="823285" indent="0">
              <a:buNone/>
              <a:defRPr sz="5039"/>
            </a:lvl2pPr>
            <a:lvl3pPr marL="1646571" indent="0">
              <a:buNone/>
              <a:defRPr sz="4323"/>
            </a:lvl3pPr>
            <a:lvl4pPr marL="2469856" indent="0">
              <a:buNone/>
              <a:defRPr sz="3602"/>
            </a:lvl4pPr>
            <a:lvl5pPr marL="3293142" indent="0">
              <a:buNone/>
              <a:defRPr sz="3602"/>
            </a:lvl5pPr>
            <a:lvl6pPr marL="4116427" indent="0">
              <a:buNone/>
              <a:defRPr sz="3602"/>
            </a:lvl6pPr>
            <a:lvl7pPr marL="4939713" indent="0">
              <a:buNone/>
              <a:defRPr sz="3602"/>
            </a:lvl7pPr>
            <a:lvl8pPr marL="5762993" indent="0">
              <a:buNone/>
              <a:defRPr sz="3602"/>
            </a:lvl8pPr>
            <a:lvl9pPr marL="6586284" indent="0">
              <a:buNone/>
              <a:defRPr sz="3602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9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6571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645" indent="-411645" algn="l" defTabSz="1646571" rtl="0" eaLnBrk="1" latinLnBrk="0" hangingPunct="1">
        <a:lnSpc>
          <a:spcPct val="90000"/>
        </a:lnSpc>
        <a:spcBef>
          <a:spcPts val="1798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1pPr>
      <a:lvl2pPr marL="1234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marL="205821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602" kern="1200">
          <a:solidFill>
            <a:schemeClr val="tx1"/>
          </a:solidFill>
          <a:latin typeface="+mn-lt"/>
          <a:ea typeface="+mn-ea"/>
          <a:cs typeface="+mn-cs"/>
        </a:defRPr>
      </a:lvl3pPr>
      <a:lvl4pPr marL="288150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70478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52807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535135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617463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997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823285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2pPr>
      <a:lvl3pPr marL="1646571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3pPr>
      <a:lvl4pPr marL="2469856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293142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116427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493971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576299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586284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https://cafebazaar.ir/app/com.aimentalhealth.chatbotmeditation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hyperlink" Target="https://pixabay.com/es/emociones-smileys-sentimientos-36366/" TargetMode="External"/><Relationship Id="rId5" Type="http://schemas.openxmlformats.org/officeDocument/2006/relationships/image" Target="../media/image3.png"/><Relationship Id="rId15" Type="http://schemas.openxmlformats.org/officeDocument/2006/relationships/hyperlink" Target="https://www.rawpixel.com/search/psychology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hyperlink" Target="http://www.codershood.info/2019/03/16/nlp-sentiment-analysis-in-python/" TargetMode="External"/><Relationship Id="rId14" Type="http://schemas.openxmlformats.org/officeDocument/2006/relationships/image" Target="../media/image9.1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F757CC-C832-3EB9-8642-C2DADE82A7D6}"/>
              </a:ext>
            </a:extLst>
          </p:cNvPr>
          <p:cNvSpPr/>
          <p:nvPr/>
        </p:nvSpPr>
        <p:spPr>
          <a:xfrm>
            <a:off x="-1" y="1"/>
            <a:ext cx="16459202" cy="269206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43" y="213958"/>
            <a:ext cx="15952717" cy="229053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4143" y="12180172"/>
            <a:ext cx="8257345" cy="2919040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4168" y="9303081"/>
            <a:ext cx="8253178" cy="2888221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IN" sz="1798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8642" y="3495088"/>
            <a:ext cx="8257345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19" name="Rectangle 18"/>
          <p:cNvSpPr/>
          <p:nvPr/>
        </p:nvSpPr>
        <p:spPr>
          <a:xfrm>
            <a:off x="132408" y="3595925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32408" y="9466230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9650" y="12294344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374075" y="2693072"/>
            <a:ext cx="755455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000" b="1">
                <a:effectLst/>
                <a:ea typeface="+mn-lt"/>
                <a:cs typeface="+mn-lt"/>
              </a:rPr>
              <a:t>Enhancing </a:t>
            </a:r>
            <a:r>
              <a:rPr lang="en-IN" sz="2000" b="1">
                <a:ea typeface="+mn-lt"/>
                <a:cs typeface="+mn-lt"/>
              </a:rPr>
              <a:t>Adaptive Traffic Light Timing </a:t>
            </a:r>
            <a:r>
              <a:rPr lang="en-IN" sz="2000" b="1">
                <a:effectLst/>
                <a:ea typeface="+mn-lt"/>
                <a:cs typeface="+mn-lt"/>
              </a:rPr>
              <a:t>Using </a:t>
            </a:r>
            <a:r>
              <a:rPr lang="en-IN" sz="2000" b="1">
                <a:ea typeface="+mn-lt"/>
                <a:cs typeface="+mn-lt"/>
              </a:rPr>
              <a:t>Random Forests </a:t>
            </a:r>
            <a:r>
              <a:rPr lang="en-IN" sz="2000" b="1">
                <a:effectLst/>
                <a:ea typeface="+mn-lt"/>
                <a:cs typeface="+mn-lt"/>
              </a:rPr>
              <a:t>in Comparison with </a:t>
            </a:r>
            <a:r>
              <a:rPr lang="en-IN" sz="2000" b="1">
                <a:ea typeface="+mn-lt"/>
                <a:cs typeface="+mn-lt"/>
              </a:rPr>
              <a:t>Decision Trees</a:t>
            </a:r>
            <a:endParaRPr lang="en-US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70C69D-E356-94D3-988E-D3E99B4033C3}"/>
              </a:ext>
            </a:extLst>
          </p:cNvPr>
          <p:cNvSpPr txBox="1"/>
          <p:nvPr/>
        </p:nvSpPr>
        <p:spPr>
          <a:xfrm>
            <a:off x="9643463" y="1470940"/>
            <a:ext cx="6420886" cy="12464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2500" b="1" dirty="0">
                <a:solidFill>
                  <a:schemeClr val="bg1"/>
                </a:solidFill>
                <a:latin typeface="Arial"/>
                <a:cs typeface="Arial"/>
              </a:rPr>
              <a:t>Register No: </a:t>
            </a:r>
            <a:r>
              <a:rPr lang="en-US" sz="2500" dirty="0">
                <a:solidFill>
                  <a:schemeClr val="bg1"/>
                </a:solidFill>
                <a:latin typeface="Arial"/>
                <a:cs typeface="Arial"/>
              </a:rPr>
              <a:t>192221148</a:t>
            </a:r>
            <a:endParaRPr lang="en-US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2500" b="1" dirty="0">
                <a:solidFill>
                  <a:schemeClr val="bg1"/>
                </a:solidFill>
                <a:latin typeface="Arial"/>
                <a:cs typeface="Arial"/>
              </a:rPr>
              <a:t>Students Name:  Srimathi S</a:t>
            </a:r>
            <a:endParaRPr lang="en-IN" sz="25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r"/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Guided By </a:t>
            </a: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en-US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Hyils</a:t>
            </a: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Sharon Magdalene A</a:t>
            </a:r>
            <a:endParaRPr lang="en-IN" sz="2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1517" y="6408151"/>
            <a:ext cx="8257345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4044" y="14778836"/>
            <a:ext cx="8257345" cy="2919040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108" y="18711686"/>
            <a:ext cx="8257345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14207" y="17985530"/>
            <a:ext cx="8238970" cy="7755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-1" y="2719578"/>
            <a:ext cx="8253178" cy="802627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Comparing RNN and SVM for Improving Sentiment Analysis in AI-Powered Mental Health Chatbots</a:t>
            </a:r>
            <a:endParaRPr lang="en-US" i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250897" y="18008376"/>
            <a:ext cx="776134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i="1" dirty="0">
                <a:latin typeface="Times New Roman"/>
                <a:ea typeface="+mn-lt"/>
                <a:cs typeface="+mn-lt"/>
              </a:rPr>
              <a:t>Improving Mental Health Assessment A Study Comparing RNN and Random Forest for Early Stress Detection</a:t>
            </a:r>
            <a:endParaRPr lang="en-IN" sz="2000" b="1" i="1" dirty="0">
              <a:latin typeface="Times New Roman"/>
              <a:ea typeface="Calibri"/>
              <a:cs typeface="Latha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108" y="21614589"/>
            <a:ext cx="8257345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98" dirty="0"/>
              <a:t>-</a:t>
            </a:r>
            <a:endParaRPr lang="en-IN" sz="1798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108" y="24537582"/>
            <a:ext cx="8257345" cy="2919040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108" y="27446123"/>
            <a:ext cx="8257345" cy="2919040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10052" y="29995434"/>
            <a:ext cx="8257345" cy="2919040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20" name="Rectangle 19"/>
          <p:cNvSpPr/>
          <p:nvPr/>
        </p:nvSpPr>
        <p:spPr>
          <a:xfrm>
            <a:off x="132408" y="6583243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2845" y="14852554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32408" y="18940953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02690" y="24664905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31944" y="27642927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03647" y="21794500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31944" y="30077309"/>
            <a:ext cx="3022889" cy="4744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55394" y="12220335"/>
            <a:ext cx="8038263" cy="2919040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53847" y="9303081"/>
            <a:ext cx="8038263" cy="2919040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49374" y="3506218"/>
            <a:ext cx="8038263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49373" y="6409121"/>
            <a:ext cx="8038263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63581" y="14800126"/>
            <a:ext cx="8038263" cy="2919040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69589" y="18722816"/>
            <a:ext cx="8038263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69589" y="21625719"/>
            <a:ext cx="8038263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69589" y="24548712"/>
            <a:ext cx="8038263" cy="2919040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Fig 1: RNN VS Random forerst</a:t>
            </a:r>
            <a:endParaRPr lang="en-IN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69589" y="27457253"/>
            <a:ext cx="8038263" cy="2919040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69589" y="30006564"/>
            <a:ext cx="8038263" cy="2919040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8697593" y="2777415"/>
            <a:ext cx="755455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000" b="1">
                <a:latin typeface="Calibri"/>
                <a:ea typeface="+mn-lt"/>
                <a:cs typeface="+mn-lt"/>
              </a:rPr>
              <a:t>Advancing Adaptive Traffic Light Timing </a:t>
            </a:r>
            <a:r>
              <a:rPr lang="en-IN" sz="2000" b="1">
                <a:effectLst/>
                <a:latin typeface="Calibri"/>
                <a:ea typeface="+mn-lt"/>
                <a:cs typeface="+mn-lt"/>
              </a:rPr>
              <a:t>Using </a:t>
            </a:r>
            <a:r>
              <a:rPr lang="en-IN" sz="2000" b="1">
                <a:latin typeface="Calibri"/>
                <a:ea typeface="+mn-lt"/>
                <a:cs typeface="+mn-lt"/>
              </a:rPr>
              <a:t>Random Forests </a:t>
            </a:r>
            <a:r>
              <a:rPr lang="en-IN" sz="2000" b="1">
                <a:effectLst/>
                <a:latin typeface="Calibri"/>
                <a:ea typeface="+mn-lt"/>
                <a:cs typeface="+mn-lt"/>
              </a:rPr>
              <a:t>in Comparison with </a:t>
            </a:r>
            <a:r>
              <a:rPr lang="en-IN" sz="2000" b="1">
                <a:latin typeface="Calibri"/>
                <a:ea typeface="+mn-lt"/>
                <a:cs typeface="+mn-lt"/>
              </a:rPr>
              <a:t>K-Nearest Neighbors (KNN)</a:t>
            </a:r>
            <a:endParaRPr lang="en-US" b="1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8445207" y="17985530"/>
            <a:ext cx="8038263" cy="7755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8538755" y="18044996"/>
            <a:ext cx="776134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i="1" dirty="0">
                <a:latin typeface="Times New Roman"/>
                <a:ea typeface="+mn-lt"/>
                <a:cs typeface="+mn-lt"/>
              </a:rPr>
              <a:t>Enhancing Conversational AI Evaluating RNN and Deep Q-Network (DQN) for Emotional Intelligence in Chatbots</a:t>
            </a:r>
            <a:endParaRPr lang="en-US" b="1" i="1" dirty="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635481" y="19027729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8635842" y="24664905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538755" y="27623766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568485" y="21808586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8659625" y="30067903"/>
            <a:ext cx="3022889" cy="4744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8435048" y="2690167"/>
            <a:ext cx="8048211" cy="802627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Enhancing User Behavior Analysis Using RNN and K-Means Clustering for Personalized Mental Health Support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623771" y="3608038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635842" y="9576392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659625" y="12323828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11939444" y="6787573"/>
            <a:ext cx="5373967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3043" indent="-343043">
              <a:buFont typeface="Wingdings" panose="05000000000000000000" pitchFamily="2" charset="2"/>
              <a:buChar char="Ø"/>
            </a:pPr>
            <a:r>
              <a:rPr lang="en-US" sz="2001" b="1">
                <a:latin typeface="Times New Roman" panose="02020603050405020304" pitchFamily="18" charset="0"/>
                <a:cs typeface="Times New Roman" panose="02020603050405020304" pitchFamily="18" charset="0"/>
              </a:rPr>
              <a:t>Text here</a:t>
            </a:r>
            <a:endParaRPr lang="en-IN" sz="2001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8632723" y="6595094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8635842" y="14841343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48A2B2F8-3ADB-EAEF-B1C5-A29F8118F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5CD2FA34-A5B9-DB6E-BC31-3624DA3BA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F276320D-A0A6-796A-0530-3611587E9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15">
            <a:extLst>
              <a:ext uri="{FF2B5EF4-FFF2-40B4-BE49-F238E27FC236}">
                <a16:creationId xmlns:a16="http://schemas.microsoft.com/office/drawing/2014/main" id="{66676541-9A29-C10A-BFD1-32AA30489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16">
            <a:extLst>
              <a:ext uri="{FF2B5EF4-FFF2-40B4-BE49-F238E27FC236}">
                <a16:creationId xmlns:a16="http://schemas.microsoft.com/office/drawing/2014/main" id="{6FB2A44D-8BC1-3699-1692-6ABF11579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17">
            <a:extLst>
              <a:ext uri="{FF2B5EF4-FFF2-40B4-BE49-F238E27FC236}">
                <a16:creationId xmlns:a16="http://schemas.microsoft.com/office/drawing/2014/main" id="{889E609C-EFC2-F5A5-817A-E0468DE7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18">
            <a:extLst>
              <a:ext uri="{FF2B5EF4-FFF2-40B4-BE49-F238E27FC236}">
                <a16:creationId xmlns:a16="http://schemas.microsoft.com/office/drawing/2014/main" id="{39C046D7-C05F-1CE6-6608-106292101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19">
            <a:extLst>
              <a:ext uri="{FF2B5EF4-FFF2-40B4-BE49-F238E27FC236}">
                <a16:creationId xmlns:a16="http://schemas.microsoft.com/office/drawing/2014/main" id="{88C58EF7-B32C-C3EB-8326-1B6094AAD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B58947-BAB7-177B-E444-C0F68F79C332}"/>
              </a:ext>
            </a:extLst>
          </p:cNvPr>
          <p:cNvSpPr txBox="1"/>
          <p:nvPr/>
        </p:nvSpPr>
        <p:spPr>
          <a:xfrm>
            <a:off x="16064349" y="1767840"/>
            <a:ext cx="577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F7977-3AC7-18CE-C75C-08A697FFB2EA}"/>
              </a:ext>
            </a:extLst>
          </p:cNvPr>
          <p:cNvSpPr txBox="1"/>
          <p:nvPr/>
        </p:nvSpPr>
        <p:spPr>
          <a:xfrm>
            <a:off x="44883" y="4158561"/>
            <a:ext cx="5737757" cy="22780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SVMs are fast and interpretable but struggle with understanding emotional context in sequential data.</a:t>
            </a:r>
          </a:p>
          <a:p>
            <a:pPr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SVMs were effective in early chatbots with small, labeled datasets but lack depth in complex dialogues.</a:t>
            </a:r>
          </a:p>
          <a:p>
            <a:pPr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RNNs capture temporal dependencies, making them better suited for detecting sentiment in mental health chatbots.</a:t>
            </a:r>
            <a:endParaRPr lang="en-IN" b="1" dirty="0">
              <a:latin typeface="Times New Roman"/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F88A8-692C-BFEF-604A-58971F53DE31}"/>
              </a:ext>
            </a:extLst>
          </p:cNvPr>
          <p:cNvSpPr txBox="1"/>
          <p:nvPr/>
        </p:nvSpPr>
        <p:spPr>
          <a:xfrm>
            <a:off x="8590964" y="4140808"/>
            <a:ext cx="4905118" cy="22780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 Traditional mental health systems lack personalization, relying on static profiles and generic recommendations.</a:t>
            </a:r>
          </a:p>
          <a:p>
            <a:pPr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 K-Means segments users by static traits but can't capture changing emotional patterns.</a:t>
            </a:r>
          </a:p>
          <a:p>
            <a:pPr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Combining RNN with K-Means enables dynamic user </a:t>
            </a:r>
            <a:r>
              <a:rPr lang="en-US" b="1" kern="100" dirty="0" err="1">
                <a:latin typeface="Times New Roman"/>
                <a:ea typeface="+mn-lt"/>
                <a:cs typeface="+mn-lt"/>
              </a:rPr>
              <a:t>analysis,mental</a:t>
            </a:r>
            <a:r>
              <a:rPr lang="en-US" b="1" kern="100" dirty="0">
                <a:latin typeface="Times New Roman"/>
                <a:ea typeface="+mn-lt"/>
                <a:cs typeface="+mn-lt"/>
              </a:rPr>
              <a:t> health support.</a:t>
            </a:r>
            <a:endParaRPr lang="en-IN" b="1" dirty="0">
              <a:latin typeface="Times New Roman"/>
              <a:ea typeface="+mn-lt"/>
              <a:cs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67B1A2-DD35-07F9-BD15-09C92F576F65}"/>
              </a:ext>
            </a:extLst>
          </p:cNvPr>
          <p:cNvSpPr txBox="1"/>
          <p:nvPr/>
        </p:nvSpPr>
        <p:spPr>
          <a:xfrm>
            <a:off x="212857" y="19569607"/>
            <a:ext cx="5805755" cy="19622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Traditional stress detection methods miss subtle temporal changes critical for early intervention.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Random Forest handles complex data well but lacks the ability to track time-based stress patterns.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RNNs process sequential data, making them more effective for early and accurate stress detection.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95F3AC-F219-A6D1-6CCE-76F82038165C}"/>
              </a:ext>
            </a:extLst>
          </p:cNvPr>
          <p:cNvSpPr txBox="1"/>
          <p:nvPr/>
        </p:nvSpPr>
        <p:spPr>
          <a:xfrm>
            <a:off x="8470203" y="19588369"/>
            <a:ext cx="5442568" cy="19622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Traditional conversational AI lacks emotional intelligence, resulting in mechanical interactions.</a:t>
            </a:r>
          </a:p>
          <a:p>
            <a:pPr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RNNs capture dialogue flow and temporal context but struggle with real-time adaptability.</a:t>
            </a:r>
          </a:p>
          <a:p>
            <a:pPr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Combining both DQN and </a:t>
            </a:r>
            <a:r>
              <a:rPr lang="en-US" b="1" kern="100" dirty="0" err="1">
                <a:latin typeface="Times New Roman"/>
                <a:ea typeface="+mn-lt"/>
                <a:cs typeface="+mn-lt"/>
              </a:rPr>
              <a:t>RNN,enable</a:t>
            </a:r>
            <a:r>
              <a:rPr lang="en-US" b="1" kern="100" dirty="0">
                <a:latin typeface="Times New Roman"/>
                <a:ea typeface="+mn-lt"/>
                <a:cs typeface="+mn-lt"/>
              </a:rPr>
              <a:t> more emotionally aware interactions.</a:t>
            </a:r>
            <a:endParaRPr lang="en-IN" b="1" dirty="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5F9BF06-7339-75CE-FD97-B78325A9E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115" y="10216358"/>
            <a:ext cx="2133925" cy="1213156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6923B37-603C-088A-0E08-964FB2EF1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32723" y="10266521"/>
            <a:ext cx="1994638" cy="122997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7025ED1-6641-FD10-7D51-E2CE3F7E31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20882" y="25488201"/>
            <a:ext cx="2006479" cy="1190884"/>
          </a:xfrm>
          <a:prstGeom prst="rect">
            <a:avLst/>
          </a:prstGeom>
        </p:spPr>
      </p:pic>
      <p:sp>
        <p:nvSpPr>
          <p:cNvPr id="38" name="TextBox 99">
            <a:extLst>
              <a:ext uri="{FF2B5EF4-FFF2-40B4-BE49-F238E27FC236}">
                <a16:creationId xmlns:a16="http://schemas.microsoft.com/office/drawing/2014/main" id="{228E824E-31AE-D6B8-BDC1-6CDB1992290C}"/>
              </a:ext>
            </a:extLst>
          </p:cNvPr>
          <p:cNvSpPr txBox="1"/>
          <p:nvPr/>
        </p:nvSpPr>
        <p:spPr>
          <a:xfrm>
            <a:off x="14207" y="12859767"/>
            <a:ext cx="8103632" cy="19622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RNNs (97.25%) outperform SVMs (84.57%) in sentiment analysis for mental health chatbots (p = 0.005), thanks to their ability to model sequential context.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RNNs capture emotional shifts more effectively, while SVMs are faster and perform well on small, labeled datasets.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Future models should combine RNN’s contextual understanding with SVM’s efficiency for improved performance.</a:t>
            </a:r>
            <a:endParaRPr lang="en-IN" b="1" dirty="0">
              <a:latin typeface="Times New Roman"/>
              <a:ea typeface="+mn-lt"/>
              <a:cs typeface="+mn-lt"/>
            </a:endParaRPr>
          </a:p>
        </p:txBody>
      </p:sp>
      <p:sp>
        <p:nvSpPr>
          <p:cNvPr id="54" name="TextBox 99">
            <a:extLst>
              <a:ext uri="{FF2B5EF4-FFF2-40B4-BE49-F238E27FC236}">
                <a16:creationId xmlns:a16="http://schemas.microsoft.com/office/drawing/2014/main" id="{30027A73-EDF0-F3ED-E8D2-EC44B76FEF0F}"/>
              </a:ext>
            </a:extLst>
          </p:cNvPr>
          <p:cNvSpPr txBox="1"/>
          <p:nvPr/>
        </p:nvSpPr>
        <p:spPr>
          <a:xfrm>
            <a:off x="8463581" y="12861539"/>
            <a:ext cx="7995619" cy="19622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RNNs (97.25%) significantly outperform K-Means (84.77%) in modeling user behavior (p = 0.005), due to their strength in handling emotional data.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RNNs track evolving emotional states, while K-Means offers quick unsupervised clustering but lacks temporal awareness.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Hybrid models combining RNN’s time-series learning with K-Means’ clustering could enhance real-time, personalized interventions.</a:t>
            </a:r>
            <a:endParaRPr lang="en-IN" b="1" dirty="0">
              <a:latin typeface="Times New Roman"/>
              <a:ea typeface="+mn-lt"/>
              <a:cs typeface="+mn-lt"/>
            </a:endParaRPr>
          </a:p>
        </p:txBody>
      </p:sp>
      <p:sp>
        <p:nvSpPr>
          <p:cNvPr id="76" name="TextBox 99">
            <a:extLst>
              <a:ext uri="{FF2B5EF4-FFF2-40B4-BE49-F238E27FC236}">
                <a16:creationId xmlns:a16="http://schemas.microsoft.com/office/drawing/2014/main" id="{1E56CC55-4512-D88F-059F-A758F7561970}"/>
              </a:ext>
            </a:extLst>
          </p:cNvPr>
          <p:cNvSpPr txBox="1"/>
          <p:nvPr/>
        </p:nvSpPr>
        <p:spPr>
          <a:xfrm>
            <a:off x="8583694" y="28252238"/>
            <a:ext cx="7799487" cy="16464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RNN (97.25%) outperforms DQN (85.17%) in emotional cue detection for chatbots (p = 0.005) due to better handling of sequential data.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RNNs capture user sentiment over time, while DQNs focus on goal-oriented tasks with less emotional depth.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Combining both can create adaptive, emotionally aware chatbots.</a:t>
            </a:r>
            <a:endParaRPr lang="en-IN" b="1" dirty="0">
              <a:latin typeface="Times New Roman"/>
              <a:ea typeface="+mn-lt"/>
              <a:cs typeface="+mn-lt"/>
            </a:endParaRPr>
          </a:p>
        </p:txBody>
      </p:sp>
      <p:sp>
        <p:nvSpPr>
          <p:cNvPr id="85" name="TextBox 99">
            <a:extLst>
              <a:ext uri="{FF2B5EF4-FFF2-40B4-BE49-F238E27FC236}">
                <a16:creationId xmlns:a16="http://schemas.microsoft.com/office/drawing/2014/main" id="{6F1AC6AD-51B2-7476-220D-A0FBC1B95EAF}"/>
              </a:ext>
            </a:extLst>
          </p:cNvPr>
          <p:cNvSpPr txBox="1"/>
          <p:nvPr/>
        </p:nvSpPr>
        <p:spPr>
          <a:xfrm>
            <a:off x="-8642" y="28263354"/>
            <a:ext cx="8286199" cy="16464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RNN (97.25%) significantly outperforms Random Forest (84.77%) in early stress detection (p = 0.005) due to its ability to process time-based data.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Random Forest is effective but struggles with temporal patterns, unlike RNNs.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Future work can explore hybrid models and integrate diverse data (e.g., speech, heart rate) for improved stress prediction.</a:t>
            </a:r>
          </a:p>
        </p:txBody>
      </p:sp>
      <p:sp>
        <p:nvSpPr>
          <p:cNvPr id="86" name="TextBox 48">
            <a:extLst>
              <a:ext uri="{FF2B5EF4-FFF2-40B4-BE49-F238E27FC236}">
                <a16:creationId xmlns:a16="http://schemas.microsoft.com/office/drawing/2014/main" id="{C51A778D-05C9-94DA-916B-72AC20DD415B}"/>
              </a:ext>
            </a:extLst>
          </p:cNvPr>
          <p:cNvSpPr txBox="1"/>
          <p:nvPr/>
        </p:nvSpPr>
        <p:spPr>
          <a:xfrm>
            <a:off x="8659625" y="15378354"/>
            <a:ext cx="7785371" cy="22780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Zhang, C. (2022). Application of K-means Clustering Algorithm in Mental Health Education Evaluation of College Students. In Innovative Computing (IC).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Zhou, J., Lamichhane, B., Ben-Zeev, D., Campbell, A., &amp; Sano, A. (2021). 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Joshi, D. &amp; Patwardhan, M. (2020). An analysis of mental health of social media users using unsupervised approach. Computers in Human Behavior Reports </a:t>
            </a:r>
          </a:p>
        </p:txBody>
      </p:sp>
      <p:sp>
        <p:nvSpPr>
          <p:cNvPr id="87" name="TextBox 48">
            <a:extLst>
              <a:ext uri="{FF2B5EF4-FFF2-40B4-BE49-F238E27FC236}">
                <a16:creationId xmlns:a16="http://schemas.microsoft.com/office/drawing/2014/main" id="{766181A5-4C36-69E9-7E1C-F9E83CBA4054}"/>
              </a:ext>
            </a:extLst>
          </p:cNvPr>
          <p:cNvSpPr txBox="1"/>
          <p:nvPr/>
        </p:nvSpPr>
        <p:spPr>
          <a:xfrm>
            <a:off x="0" y="15354024"/>
            <a:ext cx="8248703" cy="22780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Dhyani, A., &amp; Kumar, R. (2020). An intelligent chatbot using deep learning with Bidirectional RNN and attention model. Materials Today: Proceedings.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Li, X., Li, C., &amp; Wu, Z. (2020). </a:t>
            </a:r>
            <a:r>
              <a:rPr lang="en-US" b="1" kern="100" dirty="0" err="1">
                <a:latin typeface="Times New Roman"/>
                <a:ea typeface="+mn-lt"/>
                <a:cs typeface="+mn-lt"/>
              </a:rPr>
              <a:t>BiERU</a:t>
            </a:r>
            <a:r>
              <a:rPr lang="en-US" b="1" kern="100" dirty="0">
                <a:latin typeface="Times New Roman"/>
                <a:ea typeface="+mn-lt"/>
                <a:cs typeface="+mn-lt"/>
              </a:rPr>
              <a:t>: Bidirectional Emotional Recurrent Unit for Conversational Sentiment Analysis. Proceedings of the 28th International Conference on Computational Linguistics.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Fatima, M., Zafar, B., &amp; Mehmood, T. (2021). </a:t>
            </a:r>
            <a:r>
              <a:rPr lang="en-US" b="1" kern="100" dirty="0" err="1">
                <a:latin typeface="Times New Roman"/>
                <a:ea typeface="+mn-lt"/>
                <a:cs typeface="+mn-lt"/>
              </a:rPr>
              <a:t>DASentimental</a:t>
            </a:r>
            <a:r>
              <a:rPr lang="en-US" b="1" kern="100" dirty="0">
                <a:latin typeface="Times New Roman"/>
                <a:ea typeface="+mn-lt"/>
                <a:cs typeface="+mn-lt"/>
              </a:rPr>
              <a:t>: A sentiment analysis model for mental health monitoring.</a:t>
            </a:r>
          </a:p>
        </p:txBody>
      </p:sp>
      <p:sp>
        <p:nvSpPr>
          <p:cNvPr id="89" name="TextBox 48">
            <a:extLst>
              <a:ext uri="{FF2B5EF4-FFF2-40B4-BE49-F238E27FC236}">
                <a16:creationId xmlns:a16="http://schemas.microsoft.com/office/drawing/2014/main" id="{59E98EE4-9C39-BDBE-2AB2-DA4249AB9D2D}"/>
              </a:ext>
            </a:extLst>
          </p:cNvPr>
          <p:cNvSpPr txBox="1"/>
          <p:nvPr/>
        </p:nvSpPr>
        <p:spPr>
          <a:xfrm>
            <a:off x="0" y="30551468"/>
            <a:ext cx="8229600" cy="22780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IN" b="1" kern="100" dirty="0">
                <a:latin typeface="Times New Roman"/>
                <a:ea typeface="+mn-lt"/>
                <a:cs typeface="+mn-lt"/>
              </a:rPr>
              <a:t>Al-</a:t>
            </a:r>
            <a:r>
              <a:rPr lang="en-IN" b="1" kern="100" dirty="0" err="1">
                <a:latin typeface="Times New Roman"/>
                <a:ea typeface="+mn-lt"/>
                <a:cs typeface="+mn-lt"/>
              </a:rPr>
              <a:t>Shargie</a:t>
            </a:r>
            <a:r>
              <a:rPr lang="en-IN" b="1" kern="100" dirty="0">
                <a:latin typeface="Times New Roman"/>
                <a:ea typeface="+mn-lt"/>
                <a:cs typeface="+mn-lt"/>
              </a:rPr>
              <a:t>, F., Tang, T. B., &amp; </a:t>
            </a:r>
            <a:r>
              <a:rPr lang="en-IN" b="1" kern="100" dirty="0" err="1">
                <a:latin typeface="Times New Roman"/>
                <a:ea typeface="+mn-lt"/>
                <a:cs typeface="+mn-lt"/>
              </a:rPr>
              <a:t>Kiguchi</a:t>
            </a:r>
            <a:r>
              <a:rPr lang="en-IN" b="1" kern="100" dirty="0">
                <a:latin typeface="Times New Roman"/>
                <a:ea typeface="+mn-lt"/>
                <a:cs typeface="+mn-lt"/>
              </a:rPr>
              <a:t>, M. (2020). Mental stress assessment using simultaneous measurement of EEG and </a:t>
            </a:r>
            <a:r>
              <a:rPr lang="en-IN" b="1" kern="100" dirty="0" err="1">
                <a:latin typeface="Times New Roman"/>
                <a:ea typeface="+mn-lt"/>
                <a:cs typeface="+mn-lt"/>
              </a:rPr>
              <a:t>fNIRS</a:t>
            </a:r>
            <a:r>
              <a:rPr lang="en-IN" b="1" kern="100" dirty="0">
                <a:latin typeface="Times New Roman"/>
                <a:ea typeface="+mn-lt"/>
                <a:cs typeface="+mn-lt"/>
              </a:rPr>
              <a:t>. Biomedical Optics Express, 11(3), 1070–1086.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IN" b="1" kern="100" dirty="0" err="1">
                <a:latin typeface="Times New Roman"/>
                <a:ea typeface="+mn-lt"/>
                <a:cs typeface="+mn-lt"/>
              </a:rPr>
              <a:t>PeerJ</a:t>
            </a:r>
            <a:r>
              <a:rPr lang="en-IN" b="1" kern="100" dirty="0">
                <a:latin typeface="Times New Roman"/>
                <a:ea typeface="+mn-lt"/>
                <a:cs typeface="+mn-lt"/>
              </a:rPr>
              <a:t> Computer Science. (2023). A hybrid deep learning model for perinatal depression detection. </a:t>
            </a:r>
            <a:r>
              <a:rPr lang="en-IN" b="1" kern="100" dirty="0" err="1">
                <a:latin typeface="Times New Roman"/>
                <a:ea typeface="+mn-lt"/>
                <a:cs typeface="+mn-lt"/>
              </a:rPr>
              <a:t>PeerJ</a:t>
            </a:r>
            <a:r>
              <a:rPr lang="en-IN" b="1" kern="100" dirty="0">
                <a:latin typeface="Times New Roman"/>
                <a:ea typeface="+mn-lt"/>
                <a:cs typeface="+mn-lt"/>
              </a:rPr>
              <a:t> </a:t>
            </a:r>
            <a:r>
              <a:rPr lang="en-IN" b="1" kern="100" dirty="0" err="1">
                <a:latin typeface="Times New Roman"/>
                <a:ea typeface="+mn-lt"/>
                <a:cs typeface="+mn-lt"/>
              </a:rPr>
              <a:t>Comput</a:t>
            </a:r>
            <a:r>
              <a:rPr lang="en-IN" b="1" kern="100" dirty="0">
                <a:latin typeface="Times New Roman"/>
                <a:ea typeface="+mn-lt"/>
                <a:cs typeface="+mn-lt"/>
              </a:rPr>
              <a:t>. Sci., 9:e1402.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IN" b="1" kern="100" dirty="0" err="1">
                <a:latin typeface="Times New Roman"/>
                <a:ea typeface="+mn-lt"/>
                <a:cs typeface="+mn-lt"/>
              </a:rPr>
              <a:t>Sifaunnufus</a:t>
            </a:r>
            <a:r>
              <a:rPr lang="en-IN" b="1" kern="100" dirty="0">
                <a:latin typeface="Times New Roman"/>
                <a:ea typeface="+mn-lt"/>
                <a:cs typeface="+mn-lt"/>
              </a:rPr>
              <a:t>, M., Hossain, M. S., &amp; </a:t>
            </a:r>
            <a:r>
              <a:rPr lang="en-IN" b="1" kern="100" dirty="0" err="1">
                <a:latin typeface="Times New Roman"/>
                <a:ea typeface="+mn-lt"/>
                <a:cs typeface="+mn-lt"/>
              </a:rPr>
              <a:t>Alhumyani</a:t>
            </a:r>
            <a:r>
              <a:rPr lang="en-IN" b="1" kern="100" dirty="0">
                <a:latin typeface="Times New Roman"/>
                <a:ea typeface="+mn-lt"/>
                <a:cs typeface="+mn-lt"/>
              </a:rPr>
              <a:t>, H. A. (2024). EEG-Based Stress Detection Using Random Forest Classifier. </a:t>
            </a:r>
          </a:p>
        </p:txBody>
      </p:sp>
      <p:sp>
        <p:nvSpPr>
          <p:cNvPr id="96" name="TextBox 48">
            <a:extLst>
              <a:ext uri="{FF2B5EF4-FFF2-40B4-BE49-F238E27FC236}">
                <a16:creationId xmlns:a16="http://schemas.microsoft.com/office/drawing/2014/main" id="{97D5B222-EE72-A762-E0DD-7711D6CD019C}"/>
              </a:ext>
            </a:extLst>
          </p:cNvPr>
          <p:cNvSpPr txBox="1"/>
          <p:nvPr/>
        </p:nvSpPr>
        <p:spPr>
          <a:xfrm>
            <a:off x="8624657" y="30600820"/>
            <a:ext cx="7834650" cy="22780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Rani, M. U., Stalin, M. S., Kumar, V., Kumar, C. A., Sandhyarani, M., &amp; Kosuri, U. (2024). Advancing Emotional Intelligence in Chatbots through Deep Learning: A Framework for Real‑Time Sentiment and Emotion Recognition. Frontiers in Health Informatics, 13(3).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Zhang, X., Zhao, Z., &amp; Cheng, Y. (2021). Emotion‑Sensitive Deep Dyna‑Q Learning for Task‑Completion Dialogue Policy. Neurocomputing, 459.</a:t>
            </a:r>
          </a:p>
          <a:p>
            <a:pPr algn="just">
              <a:lnSpc>
                <a:spcPct val="114000"/>
              </a:lnSpc>
              <a:buFont typeface="Arial" panose="05000000000000000000" pitchFamily="2" charset="2"/>
              <a:buChar char="•"/>
            </a:pPr>
            <a:r>
              <a:rPr lang="en-US" b="1" kern="100" dirty="0">
                <a:latin typeface="Times New Roman"/>
                <a:ea typeface="+mn-lt"/>
                <a:cs typeface="+mn-lt"/>
              </a:rPr>
              <a:t>Emotionally Intelligent Chatbots: A Systematic Literature Review.(2022).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44900CD0-D91F-AA05-B073-44D7CC2E3334}"/>
              </a:ext>
            </a:extLst>
          </p:cNvPr>
          <p:cNvSpPr/>
          <p:nvPr/>
        </p:nvSpPr>
        <p:spPr>
          <a:xfrm>
            <a:off x="3452844" y="7806056"/>
            <a:ext cx="954943" cy="5283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Model Development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BB3C50A3-9F5B-F9FB-5B60-F03F12D3D1D2}"/>
              </a:ext>
            </a:extLst>
          </p:cNvPr>
          <p:cNvSpPr/>
          <p:nvPr/>
        </p:nvSpPr>
        <p:spPr>
          <a:xfrm>
            <a:off x="103647" y="7806055"/>
            <a:ext cx="954943" cy="5283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Data Collection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44900CD0-D91F-AA05-B073-44D7CC2E3334}"/>
              </a:ext>
            </a:extLst>
          </p:cNvPr>
          <p:cNvSpPr/>
          <p:nvPr/>
        </p:nvSpPr>
        <p:spPr>
          <a:xfrm>
            <a:off x="1235287" y="7806056"/>
            <a:ext cx="954943" cy="5283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Feature Extraction</a:t>
            </a:r>
            <a:endParaRPr lang="en-US" sz="900">
              <a:latin typeface="Times New Roman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468502B8-4F47-54DB-BC3D-38F4216A66E4}"/>
              </a:ext>
            </a:extLst>
          </p:cNvPr>
          <p:cNvSpPr/>
          <p:nvPr/>
        </p:nvSpPr>
        <p:spPr>
          <a:xfrm>
            <a:off x="2321425" y="7806056"/>
            <a:ext cx="954943" cy="5283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Data Preprocessing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014195-C36C-C4B0-10DD-5E4B9E9F53FA}"/>
              </a:ext>
            </a:extLst>
          </p:cNvPr>
          <p:cNvSpPr/>
          <p:nvPr/>
        </p:nvSpPr>
        <p:spPr>
          <a:xfrm>
            <a:off x="4542233" y="8102173"/>
            <a:ext cx="954943" cy="5283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SVM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A5D122-B5E2-83A3-8557-C81DB4E61C47}"/>
              </a:ext>
            </a:extLst>
          </p:cNvPr>
          <p:cNvSpPr/>
          <p:nvPr/>
        </p:nvSpPr>
        <p:spPr>
          <a:xfrm>
            <a:off x="4542455" y="7411232"/>
            <a:ext cx="954943" cy="5283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RNN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0C35571-872A-4172-263F-F5B66AE887DA}"/>
              </a:ext>
            </a:extLst>
          </p:cNvPr>
          <p:cNvSpPr/>
          <p:nvPr/>
        </p:nvSpPr>
        <p:spPr>
          <a:xfrm>
            <a:off x="1051013" y="7992314"/>
            <a:ext cx="177258" cy="1097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878AC16-5886-9631-BF3E-BDA811D2B1DD}"/>
              </a:ext>
            </a:extLst>
          </p:cNvPr>
          <p:cNvSpPr/>
          <p:nvPr/>
        </p:nvSpPr>
        <p:spPr>
          <a:xfrm>
            <a:off x="2136727" y="8041666"/>
            <a:ext cx="177258" cy="1097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C55100F-57C1-344F-8185-1C7F8BE4453B}"/>
              </a:ext>
            </a:extLst>
          </p:cNvPr>
          <p:cNvSpPr/>
          <p:nvPr/>
        </p:nvSpPr>
        <p:spPr>
          <a:xfrm>
            <a:off x="3273348" y="7992312"/>
            <a:ext cx="177258" cy="1097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15B3517-FFBC-22E6-9806-0CC553CC56E5}"/>
              </a:ext>
            </a:extLst>
          </p:cNvPr>
          <p:cNvSpPr/>
          <p:nvPr/>
        </p:nvSpPr>
        <p:spPr>
          <a:xfrm rot="20580000">
            <a:off x="4411599" y="7844251"/>
            <a:ext cx="177258" cy="1097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EC5CF48D-9769-5489-B667-574C1BCDE6D4}"/>
              </a:ext>
            </a:extLst>
          </p:cNvPr>
          <p:cNvSpPr/>
          <p:nvPr/>
        </p:nvSpPr>
        <p:spPr>
          <a:xfrm rot="1620000">
            <a:off x="4411821" y="8140369"/>
            <a:ext cx="177258" cy="1097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0716CE6C-D295-8152-C5E7-BB792A0FF55F}"/>
              </a:ext>
            </a:extLst>
          </p:cNvPr>
          <p:cNvSpPr/>
          <p:nvPr/>
        </p:nvSpPr>
        <p:spPr>
          <a:xfrm rot="1620000">
            <a:off x="5650411" y="7844251"/>
            <a:ext cx="177258" cy="1097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D308406A-A1C5-6F97-0D2E-F14B251AB17C}"/>
              </a:ext>
            </a:extLst>
          </p:cNvPr>
          <p:cNvSpPr/>
          <p:nvPr/>
        </p:nvSpPr>
        <p:spPr>
          <a:xfrm rot="20580000">
            <a:off x="5650189" y="8337781"/>
            <a:ext cx="177258" cy="1097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6D0176E-9802-FF5B-C1F8-00ED76F078C7}"/>
              </a:ext>
            </a:extLst>
          </p:cNvPr>
          <p:cNvSpPr/>
          <p:nvPr/>
        </p:nvSpPr>
        <p:spPr>
          <a:xfrm>
            <a:off x="5774061" y="7855408"/>
            <a:ext cx="954943" cy="5283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Model Development</a:t>
            </a: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A6B79FE3-00DD-6E8B-E03C-926F09408C6F}"/>
              </a:ext>
            </a:extLst>
          </p:cNvPr>
          <p:cNvSpPr/>
          <p:nvPr/>
        </p:nvSpPr>
        <p:spPr>
          <a:xfrm>
            <a:off x="6826422" y="8041664"/>
            <a:ext cx="177258" cy="1097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A270EE4E-AD28-8825-A50A-37A5B78C9893}"/>
              </a:ext>
            </a:extLst>
          </p:cNvPr>
          <p:cNvSpPr/>
          <p:nvPr/>
        </p:nvSpPr>
        <p:spPr>
          <a:xfrm>
            <a:off x="7014841" y="7855407"/>
            <a:ext cx="954943" cy="5283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Performance Analysis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710F6B20-3FB6-433B-5E1D-1A1274FB4015}"/>
              </a:ext>
            </a:extLst>
          </p:cNvPr>
          <p:cNvSpPr/>
          <p:nvPr/>
        </p:nvSpPr>
        <p:spPr>
          <a:xfrm>
            <a:off x="11934237" y="7756702"/>
            <a:ext cx="954943" cy="52837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Model Development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66440AA1-AF03-0838-BD69-330A0AF70451}"/>
              </a:ext>
            </a:extLst>
          </p:cNvPr>
          <p:cNvSpPr/>
          <p:nvPr/>
        </p:nvSpPr>
        <p:spPr>
          <a:xfrm>
            <a:off x="8530740" y="7756701"/>
            <a:ext cx="954943" cy="52837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Data Collection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3EF02133-587D-CCFB-B3AE-CBB8EBF49156}"/>
              </a:ext>
            </a:extLst>
          </p:cNvPr>
          <p:cNvSpPr/>
          <p:nvPr/>
        </p:nvSpPr>
        <p:spPr>
          <a:xfrm>
            <a:off x="9664076" y="7756702"/>
            <a:ext cx="954943" cy="52837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Feature Extraction</a:t>
            </a:r>
            <a:endParaRPr lang="en-US" sz="900">
              <a:latin typeface="Times New Roman"/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B915F936-FAAF-54FB-DDBD-6B2758235E0B}"/>
              </a:ext>
            </a:extLst>
          </p:cNvPr>
          <p:cNvSpPr/>
          <p:nvPr/>
        </p:nvSpPr>
        <p:spPr>
          <a:xfrm>
            <a:off x="10751842" y="7756702"/>
            <a:ext cx="954943" cy="52837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Data Preprocessing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3A4C96FE-69E0-4B86-74F8-20A0CB857DA0}"/>
              </a:ext>
            </a:extLst>
          </p:cNvPr>
          <p:cNvSpPr/>
          <p:nvPr/>
        </p:nvSpPr>
        <p:spPr>
          <a:xfrm>
            <a:off x="13123817" y="8052819"/>
            <a:ext cx="954943" cy="52837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K-means Clustering</a:t>
            </a:r>
            <a:endParaRPr lang="en-US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3993156F-B275-55F4-39A7-229D5076EF7D}"/>
              </a:ext>
            </a:extLst>
          </p:cNvPr>
          <p:cNvSpPr/>
          <p:nvPr/>
        </p:nvSpPr>
        <p:spPr>
          <a:xfrm>
            <a:off x="13124039" y="7361878"/>
            <a:ext cx="954943" cy="52837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RNN</a:t>
            </a:r>
          </a:p>
        </p:txBody>
      </p: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E915FCEC-6545-498C-4D2B-94D077FFA5C8}"/>
              </a:ext>
            </a:extLst>
          </p:cNvPr>
          <p:cNvSpPr/>
          <p:nvPr/>
        </p:nvSpPr>
        <p:spPr>
          <a:xfrm>
            <a:off x="9479526" y="7942960"/>
            <a:ext cx="177258" cy="10973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Arrow: Right 109">
            <a:extLst>
              <a:ext uri="{FF2B5EF4-FFF2-40B4-BE49-F238E27FC236}">
                <a16:creationId xmlns:a16="http://schemas.microsoft.com/office/drawing/2014/main" id="{DE288CE2-4CC9-637F-679C-ABAC69B0AAD8}"/>
              </a:ext>
            </a:extLst>
          </p:cNvPr>
          <p:cNvSpPr/>
          <p:nvPr/>
        </p:nvSpPr>
        <p:spPr>
          <a:xfrm>
            <a:off x="10566868" y="7992312"/>
            <a:ext cx="177258" cy="10973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Arrow: Right 110">
            <a:extLst>
              <a:ext uri="{FF2B5EF4-FFF2-40B4-BE49-F238E27FC236}">
                <a16:creationId xmlns:a16="http://schemas.microsoft.com/office/drawing/2014/main" id="{C851CD3A-EB25-146A-709D-93CF87FABEEE}"/>
              </a:ext>
            </a:extLst>
          </p:cNvPr>
          <p:cNvSpPr/>
          <p:nvPr/>
        </p:nvSpPr>
        <p:spPr>
          <a:xfrm>
            <a:off x="11754472" y="7942958"/>
            <a:ext cx="177258" cy="10973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Arrow: Right 111">
            <a:extLst>
              <a:ext uri="{FF2B5EF4-FFF2-40B4-BE49-F238E27FC236}">
                <a16:creationId xmlns:a16="http://schemas.microsoft.com/office/drawing/2014/main" id="{85EAE7D4-A65E-6E22-A261-DF8D8EE9286B}"/>
              </a:ext>
            </a:extLst>
          </p:cNvPr>
          <p:cNvSpPr/>
          <p:nvPr/>
        </p:nvSpPr>
        <p:spPr>
          <a:xfrm rot="20580000">
            <a:off x="12992987" y="7745544"/>
            <a:ext cx="177258" cy="10973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Arrow: Right 112">
            <a:extLst>
              <a:ext uri="{FF2B5EF4-FFF2-40B4-BE49-F238E27FC236}">
                <a16:creationId xmlns:a16="http://schemas.microsoft.com/office/drawing/2014/main" id="{09BCA080-A2F6-DD3B-D701-D2C4384BB7D5}"/>
              </a:ext>
            </a:extLst>
          </p:cNvPr>
          <p:cNvSpPr/>
          <p:nvPr/>
        </p:nvSpPr>
        <p:spPr>
          <a:xfrm rot="1620000">
            <a:off x="12993210" y="8140369"/>
            <a:ext cx="177258" cy="10973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BFAC6021-8274-31A3-88C4-B89AC62F50FE}"/>
              </a:ext>
            </a:extLst>
          </p:cNvPr>
          <p:cNvSpPr/>
          <p:nvPr/>
        </p:nvSpPr>
        <p:spPr>
          <a:xfrm rot="1620000">
            <a:off x="14135098" y="7794897"/>
            <a:ext cx="177258" cy="10973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D0EA38DE-6AAD-FF8D-684D-3652DD326AEE}"/>
              </a:ext>
            </a:extLst>
          </p:cNvPr>
          <p:cNvSpPr/>
          <p:nvPr/>
        </p:nvSpPr>
        <p:spPr>
          <a:xfrm rot="20580000">
            <a:off x="14134876" y="8239074"/>
            <a:ext cx="177258" cy="10973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3BBF6084-F213-8E90-ECB9-377382384B25}"/>
              </a:ext>
            </a:extLst>
          </p:cNvPr>
          <p:cNvSpPr/>
          <p:nvPr/>
        </p:nvSpPr>
        <p:spPr>
          <a:xfrm>
            <a:off x="14258934" y="7806054"/>
            <a:ext cx="954943" cy="52837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Model Development</a:t>
            </a: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AF73E38C-0234-17C2-FFB3-74D47684C458}"/>
              </a:ext>
            </a:extLst>
          </p:cNvPr>
          <p:cNvSpPr/>
          <p:nvPr/>
        </p:nvSpPr>
        <p:spPr>
          <a:xfrm>
            <a:off x="15263594" y="7992310"/>
            <a:ext cx="177258" cy="10973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C96D7B6-3F7A-527D-789B-BB61F5FC1410}"/>
              </a:ext>
            </a:extLst>
          </p:cNvPr>
          <p:cNvSpPr/>
          <p:nvPr/>
        </p:nvSpPr>
        <p:spPr>
          <a:xfrm>
            <a:off x="15452295" y="7806053"/>
            <a:ext cx="954943" cy="52837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Performance Analysis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7103B23B-932F-AD8F-9F0F-E1E644331B93}"/>
              </a:ext>
            </a:extLst>
          </p:cNvPr>
          <p:cNvSpPr/>
          <p:nvPr/>
        </p:nvSpPr>
        <p:spPr>
          <a:xfrm>
            <a:off x="11884958" y="23006756"/>
            <a:ext cx="954943" cy="5283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Model Development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82361E5C-451B-92C5-4706-CF844C684D8A}"/>
              </a:ext>
            </a:extLst>
          </p:cNvPr>
          <p:cNvSpPr/>
          <p:nvPr/>
        </p:nvSpPr>
        <p:spPr>
          <a:xfrm>
            <a:off x="8530740" y="23006755"/>
            <a:ext cx="954943" cy="5283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Data Collection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A16912-9A2C-6F8E-5B99-8EAD5ACE778A}"/>
              </a:ext>
            </a:extLst>
          </p:cNvPr>
          <p:cNvSpPr/>
          <p:nvPr/>
        </p:nvSpPr>
        <p:spPr>
          <a:xfrm>
            <a:off x="9664076" y="23006756"/>
            <a:ext cx="954943" cy="5283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Feature Extraction</a:t>
            </a:r>
            <a:endParaRPr lang="en-US" sz="900">
              <a:latin typeface="Times New Roman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1FD2BB1-0534-678F-72B2-FC79F37C0563}"/>
              </a:ext>
            </a:extLst>
          </p:cNvPr>
          <p:cNvSpPr/>
          <p:nvPr/>
        </p:nvSpPr>
        <p:spPr>
          <a:xfrm>
            <a:off x="10751842" y="23006756"/>
            <a:ext cx="954943" cy="5283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Data Preprocessing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C09FA46F-5736-B2AB-FCEC-8660B00A50FB}"/>
              </a:ext>
            </a:extLst>
          </p:cNvPr>
          <p:cNvSpPr/>
          <p:nvPr/>
        </p:nvSpPr>
        <p:spPr>
          <a:xfrm>
            <a:off x="13074538" y="23244998"/>
            <a:ext cx="954943" cy="5283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Deep Q-Network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3FE842A5-CD77-8043-A29F-52F2F567FB6B}"/>
              </a:ext>
            </a:extLst>
          </p:cNvPr>
          <p:cNvSpPr/>
          <p:nvPr/>
        </p:nvSpPr>
        <p:spPr>
          <a:xfrm>
            <a:off x="13074760" y="22554057"/>
            <a:ext cx="954943" cy="5283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RNN</a:t>
            </a:r>
          </a:p>
        </p:txBody>
      </p:sp>
      <p:sp>
        <p:nvSpPr>
          <p:cNvPr id="126" name="Arrow: Right 125">
            <a:extLst>
              <a:ext uri="{FF2B5EF4-FFF2-40B4-BE49-F238E27FC236}">
                <a16:creationId xmlns:a16="http://schemas.microsoft.com/office/drawing/2014/main" id="{88B4A694-100A-D818-9585-F199D492BC38}"/>
              </a:ext>
            </a:extLst>
          </p:cNvPr>
          <p:cNvSpPr/>
          <p:nvPr/>
        </p:nvSpPr>
        <p:spPr>
          <a:xfrm>
            <a:off x="9479526" y="23193014"/>
            <a:ext cx="177258" cy="10973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Arrow: Right 126">
            <a:extLst>
              <a:ext uri="{FF2B5EF4-FFF2-40B4-BE49-F238E27FC236}">
                <a16:creationId xmlns:a16="http://schemas.microsoft.com/office/drawing/2014/main" id="{E1A6DD06-03FA-919F-3D97-96B781C4FA79}"/>
              </a:ext>
            </a:extLst>
          </p:cNvPr>
          <p:cNvSpPr/>
          <p:nvPr/>
        </p:nvSpPr>
        <p:spPr>
          <a:xfrm>
            <a:off x="10566868" y="23242366"/>
            <a:ext cx="177258" cy="10973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Arrow: Right 127">
            <a:extLst>
              <a:ext uri="{FF2B5EF4-FFF2-40B4-BE49-F238E27FC236}">
                <a16:creationId xmlns:a16="http://schemas.microsoft.com/office/drawing/2014/main" id="{169141C0-482D-55FD-B4B4-B054049AC1C2}"/>
              </a:ext>
            </a:extLst>
          </p:cNvPr>
          <p:cNvSpPr/>
          <p:nvPr/>
        </p:nvSpPr>
        <p:spPr>
          <a:xfrm>
            <a:off x="11705193" y="23193012"/>
            <a:ext cx="177258" cy="10973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Arrow: Right 128">
            <a:extLst>
              <a:ext uri="{FF2B5EF4-FFF2-40B4-BE49-F238E27FC236}">
                <a16:creationId xmlns:a16="http://schemas.microsoft.com/office/drawing/2014/main" id="{4FCC9227-C8E0-A171-E825-0C61B3C9535E}"/>
              </a:ext>
            </a:extLst>
          </p:cNvPr>
          <p:cNvSpPr/>
          <p:nvPr/>
        </p:nvSpPr>
        <p:spPr>
          <a:xfrm rot="20580000">
            <a:off x="12943708" y="22995597"/>
            <a:ext cx="177258" cy="10973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647AAC7C-6912-DDCD-3B4B-9080C4E40468}"/>
              </a:ext>
            </a:extLst>
          </p:cNvPr>
          <p:cNvSpPr/>
          <p:nvPr/>
        </p:nvSpPr>
        <p:spPr>
          <a:xfrm rot="1620000">
            <a:off x="12894652" y="23390423"/>
            <a:ext cx="177258" cy="10973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DA33664B-8B52-5D40-BDD4-AE43EBF57343}"/>
              </a:ext>
            </a:extLst>
          </p:cNvPr>
          <p:cNvSpPr/>
          <p:nvPr/>
        </p:nvSpPr>
        <p:spPr>
          <a:xfrm rot="1620000">
            <a:off x="14085819" y="23044950"/>
            <a:ext cx="177258" cy="10973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38B6FB25-3463-A7C3-5AED-E70EBBC04DF1}"/>
              </a:ext>
            </a:extLst>
          </p:cNvPr>
          <p:cNvSpPr/>
          <p:nvPr/>
        </p:nvSpPr>
        <p:spPr>
          <a:xfrm rot="20580000">
            <a:off x="14085597" y="23538481"/>
            <a:ext cx="177258" cy="10973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5184998E-9FCA-B7C0-9F68-23326B2321A6}"/>
              </a:ext>
            </a:extLst>
          </p:cNvPr>
          <p:cNvSpPr/>
          <p:nvPr/>
        </p:nvSpPr>
        <p:spPr>
          <a:xfrm>
            <a:off x="14209655" y="23056108"/>
            <a:ext cx="954943" cy="5283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Model Development</a:t>
            </a:r>
          </a:p>
        </p:txBody>
      </p:sp>
      <p:sp>
        <p:nvSpPr>
          <p:cNvPr id="134" name="Arrow: Right 133">
            <a:extLst>
              <a:ext uri="{FF2B5EF4-FFF2-40B4-BE49-F238E27FC236}">
                <a16:creationId xmlns:a16="http://schemas.microsoft.com/office/drawing/2014/main" id="{162C5990-F8B6-FB1C-1AD2-2081CE1C26A2}"/>
              </a:ext>
            </a:extLst>
          </p:cNvPr>
          <p:cNvSpPr/>
          <p:nvPr/>
        </p:nvSpPr>
        <p:spPr>
          <a:xfrm>
            <a:off x="15214315" y="23242364"/>
            <a:ext cx="177258" cy="10973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B29485C5-EC63-0066-77E3-3963FF6B670C}"/>
              </a:ext>
            </a:extLst>
          </p:cNvPr>
          <p:cNvSpPr/>
          <p:nvPr/>
        </p:nvSpPr>
        <p:spPr>
          <a:xfrm>
            <a:off x="15403016" y="23056107"/>
            <a:ext cx="954943" cy="5283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Performance Analysis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0D880BEF-8339-43A0-B0FF-42ADDAB92F9D}"/>
              </a:ext>
            </a:extLst>
          </p:cNvPr>
          <p:cNvSpPr/>
          <p:nvPr/>
        </p:nvSpPr>
        <p:spPr>
          <a:xfrm>
            <a:off x="3624119" y="23056108"/>
            <a:ext cx="954943" cy="52837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Model Development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90E45F14-2E04-6DDE-1E0A-0DB21941F3BB}"/>
              </a:ext>
            </a:extLst>
          </p:cNvPr>
          <p:cNvSpPr/>
          <p:nvPr/>
        </p:nvSpPr>
        <p:spPr>
          <a:xfrm>
            <a:off x="117035" y="23056107"/>
            <a:ext cx="954943" cy="52837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Data Collection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4EC60E2F-3AB2-5784-7E44-4FC9EEFEEAE5}"/>
              </a:ext>
            </a:extLst>
          </p:cNvPr>
          <p:cNvSpPr/>
          <p:nvPr/>
        </p:nvSpPr>
        <p:spPr>
          <a:xfrm>
            <a:off x="1301349" y="23056108"/>
            <a:ext cx="954943" cy="52837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Feature Extraction</a:t>
            </a:r>
            <a:endParaRPr lang="en-US" sz="900">
              <a:latin typeface="Times New Roman"/>
            </a:endParaRP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1C8402A9-70AA-4880-4D03-6D9B50B3707C}"/>
              </a:ext>
            </a:extLst>
          </p:cNvPr>
          <p:cNvSpPr/>
          <p:nvPr/>
        </p:nvSpPr>
        <p:spPr>
          <a:xfrm>
            <a:off x="2489304" y="23056108"/>
            <a:ext cx="954943" cy="52837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Data Preprocessing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B8F90E10-8242-E456-BB2F-16000C3C8E5C}"/>
              </a:ext>
            </a:extLst>
          </p:cNvPr>
          <p:cNvSpPr/>
          <p:nvPr/>
        </p:nvSpPr>
        <p:spPr>
          <a:xfrm>
            <a:off x="4864761" y="23294350"/>
            <a:ext cx="954943" cy="52837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Random Forest</a:t>
            </a:r>
            <a:endParaRPr lang="en-US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7719EE42-6F88-8765-8DDA-8C576ECF30A8}"/>
              </a:ext>
            </a:extLst>
          </p:cNvPr>
          <p:cNvSpPr/>
          <p:nvPr/>
        </p:nvSpPr>
        <p:spPr>
          <a:xfrm>
            <a:off x="4864984" y="22603409"/>
            <a:ext cx="954943" cy="52837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RNN</a:t>
            </a:r>
          </a:p>
        </p:txBody>
      </p:sp>
      <p:sp>
        <p:nvSpPr>
          <p:cNvPr id="142" name="Arrow: Right 141">
            <a:extLst>
              <a:ext uri="{FF2B5EF4-FFF2-40B4-BE49-F238E27FC236}">
                <a16:creationId xmlns:a16="http://schemas.microsoft.com/office/drawing/2014/main" id="{13D4E75D-B4FD-1E54-A9AE-B725AD970B2C}"/>
              </a:ext>
            </a:extLst>
          </p:cNvPr>
          <p:cNvSpPr/>
          <p:nvPr/>
        </p:nvSpPr>
        <p:spPr>
          <a:xfrm>
            <a:off x="1116522" y="23242366"/>
            <a:ext cx="177258" cy="109731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Arrow: Right 142">
            <a:extLst>
              <a:ext uri="{FF2B5EF4-FFF2-40B4-BE49-F238E27FC236}">
                <a16:creationId xmlns:a16="http://schemas.microsoft.com/office/drawing/2014/main" id="{5B1AD105-3441-0A7E-8CC5-61B179309EB2}"/>
              </a:ext>
            </a:extLst>
          </p:cNvPr>
          <p:cNvSpPr/>
          <p:nvPr/>
        </p:nvSpPr>
        <p:spPr>
          <a:xfrm>
            <a:off x="2254774" y="23291718"/>
            <a:ext cx="177258" cy="109731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Arrow: Right 143">
            <a:extLst>
              <a:ext uri="{FF2B5EF4-FFF2-40B4-BE49-F238E27FC236}">
                <a16:creationId xmlns:a16="http://schemas.microsoft.com/office/drawing/2014/main" id="{08869F29-38B9-4FFD-3FD6-4562CAEA46F7}"/>
              </a:ext>
            </a:extLst>
          </p:cNvPr>
          <p:cNvSpPr/>
          <p:nvPr/>
        </p:nvSpPr>
        <p:spPr>
          <a:xfrm>
            <a:off x="3493363" y="23242364"/>
            <a:ext cx="177258" cy="109731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Arrow: Right 144">
            <a:extLst>
              <a:ext uri="{FF2B5EF4-FFF2-40B4-BE49-F238E27FC236}">
                <a16:creationId xmlns:a16="http://schemas.microsoft.com/office/drawing/2014/main" id="{1500985C-B6C5-7DF9-C274-27C34DCE139A}"/>
              </a:ext>
            </a:extLst>
          </p:cNvPr>
          <p:cNvSpPr/>
          <p:nvPr/>
        </p:nvSpPr>
        <p:spPr>
          <a:xfrm rot="20580000">
            <a:off x="4684456" y="23094303"/>
            <a:ext cx="177258" cy="109731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Arrow: Right 145">
            <a:extLst>
              <a:ext uri="{FF2B5EF4-FFF2-40B4-BE49-F238E27FC236}">
                <a16:creationId xmlns:a16="http://schemas.microsoft.com/office/drawing/2014/main" id="{81252011-E647-9041-2937-FD68FB6323B9}"/>
              </a:ext>
            </a:extLst>
          </p:cNvPr>
          <p:cNvSpPr/>
          <p:nvPr/>
        </p:nvSpPr>
        <p:spPr>
          <a:xfrm rot="1620000">
            <a:off x="4684606" y="23439775"/>
            <a:ext cx="177258" cy="109731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Arrow: Right 146">
            <a:extLst>
              <a:ext uri="{FF2B5EF4-FFF2-40B4-BE49-F238E27FC236}">
                <a16:creationId xmlns:a16="http://schemas.microsoft.com/office/drawing/2014/main" id="{ADBDEC31-1FF5-FFA8-BB06-F74E03A26BA3}"/>
              </a:ext>
            </a:extLst>
          </p:cNvPr>
          <p:cNvSpPr/>
          <p:nvPr/>
        </p:nvSpPr>
        <p:spPr>
          <a:xfrm rot="1620000">
            <a:off x="5828279" y="23094303"/>
            <a:ext cx="177258" cy="109731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Arrow: Right 147">
            <a:extLst>
              <a:ext uri="{FF2B5EF4-FFF2-40B4-BE49-F238E27FC236}">
                <a16:creationId xmlns:a16="http://schemas.microsoft.com/office/drawing/2014/main" id="{67B44639-411A-DBE1-B035-F5F975FB4722}"/>
              </a:ext>
            </a:extLst>
          </p:cNvPr>
          <p:cNvSpPr/>
          <p:nvPr/>
        </p:nvSpPr>
        <p:spPr>
          <a:xfrm rot="20580000">
            <a:off x="5828057" y="23587833"/>
            <a:ext cx="177258" cy="109731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F2063725-7174-3B0C-21C2-6867182CC1CD}"/>
              </a:ext>
            </a:extLst>
          </p:cNvPr>
          <p:cNvSpPr/>
          <p:nvPr/>
        </p:nvSpPr>
        <p:spPr>
          <a:xfrm>
            <a:off x="6001580" y="23105460"/>
            <a:ext cx="954943" cy="52837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latin typeface="Times New Roman"/>
                <a:ea typeface="Calibri"/>
                <a:cs typeface="Calibri"/>
              </a:rPr>
              <a:t>Model Development</a:t>
            </a:r>
          </a:p>
        </p:txBody>
      </p:sp>
      <p:sp>
        <p:nvSpPr>
          <p:cNvPr id="150" name="Arrow: Right 149">
            <a:extLst>
              <a:ext uri="{FF2B5EF4-FFF2-40B4-BE49-F238E27FC236}">
                <a16:creationId xmlns:a16="http://schemas.microsoft.com/office/drawing/2014/main" id="{D3E6D9B3-FC5A-05FF-3EFC-7763B6242820}"/>
              </a:ext>
            </a:extLst>
          </p:cNvPr>
          <p:cNvSpPr/>
          <p:nvPr/>
        </p:nvSpPr>
        <p:spPr>
          <a:xfrm>
            <a:off x="6958467" y="23291716"/>
            <a:ext cx="177258" cy="109731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CDDE598E-5338-9471-9A20-564A98ED2E84}"/>
              </a:ext>
            </a:extLst>
          </p:cNvPr>
          <p:cNvSpPr/>
          <p:nvPr/>
        </p:nvSpPr>
        <p:spPr>
          <a:xfrm>
            <a:off x="7196804" y="23105459"/>
            <a:ext cx="954943" cy="52837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latin typeface="Times New Roman"/>
                <a:ea typeface="Calibri"/>
                <a:cs typeface="Calibri"/>
              </a:rPr>
              <a:t>Performance Analysis</a:t>
            </a: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F5E24F7B-2EF8-8107-1E90-3F6CC52892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784" y="25387450"/>
            <a:ext cx="1869408" cy="1211301"/>
          </a:xfrm>
          <a:prstGeom prst="rect">
            <a:avLst/>
          </a:prstGeom>
        </p:spPr>
      </p:pic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0606D54B-474C-3D98-6D6A-7E64D5256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803196"/>
              </p:ext>
            </p:extLst>
          </p:nvPr>
        </p:nvGraphicFramePr>
        <p:xfrm>
          <a:off x="2656345" y="9829598"/>
          <a:ext cx="5193545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272">
                  <a:extLst>
                    <a:ext uri="{9D8B030D-6E8A-4147-A177-3AD203B41FA5}">
                      <a16:colId xmlns:a16="http://schemas.microsoft.com/office/drawing/2014/main" val="2795315796"/>
                    </a:ext>
                  </a:extLst>
                </a:gridCol>
                <a:gridCol w="879802">
                  <a:extLst>
                    <a:ext uri="{9D8B030D-6E8A-4147-A177-3AD203B41FA5}">
                      <a16:colId xmlns:a16="http://schemas.microsoft.com/office/drawing/2014/main" val="2196146456"/>
                    </a:ext>
                  </a:extLst>
                </a:gridCol>
                <a:gridCol w="521915">
                  <a:extLst>
                    <a:ext uri="{9D8B030D-6E8A-4147-A177-3AD203B41FA5}">
                      <a16:colId xmlns:a16="http://schemas.microsoft.com/office/drawing/2014/main" val="2177673617"/>
                    </a:ext>
                  </a:extLst>
                </a:gridCol>
                <a:gridCol w="805241">
                  <a:extLst>
                    <a:ext uri="{9D8B030D-6E8A-4147-A177-3AD203B41FA5}">
                      <a16:colId xmlns:a16="http://schemas.microsoft.com/office/drawing/2014/main" val="1613395851"/>
                    </a:ext>
                  </a:extLst>
                </a:gridCol>
                <a:gridCol w="1028920">
                  <a:extLst>
                    <a:ext uri="{9D8B030D-6E8A-4147-A177-3AD203B41FA5}">
                      <a16:colId xmlns:a16="http://schemas.microsoft.com/office/drawing/2014/main" val="421884414"/>
                    </a:ext>
                  </a:extLst>
                </a:gridCol>
                <a:gridCol w="1089395">
                  <a:extLst>
                    <a:ext uri="{9D8B030D-6E8A-4147-A177-3AD203B41FA5}">
                      <a16:colId xmlns:a16="http://schemas.microsoft.com/office/drawing/2014/main" val="2335112743"/>
                    </a:ext>
                  </a:extLst>
                </a:gridCol>
              </a:tblGrid>
              <a:tr h="193126"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statistics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072102"/>
                  </a:ext>
                </a:extLst>
              </a:tr>
              <a:tr h="321876">
                <a:tc>
                  <a:txBody>
                    <a:bodyPr/>
                    <a:lstStyle/>
                    <a:p>
                      <a:pPr algn="just"/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St.Deviation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Std.Error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Mean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204476"/>
                  </a:ext>
                </a:extLst>
              </a:tr>
              <a:tr h="193126">
                <a:tc rowSpan="2">
                  <a:txBody>
                    <a:bodyPr/>
                    <a:lstStyle/>
                    <a:p>
                      <a:pPr algn="just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97.2540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1.85340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.82886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896811"/>
                  </a:ext>
                </a:extLst>
              </a:tr>
              <a:tr h="193126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84.5780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1.57723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.70536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452750"/>
                  </a:ext>
                </a:extLst>
              </a:tr>
            </a:tbl>
          </a:graphicData>
        </a:graphic>
      </p:graphicFrame>
      <p:graphicFrame>
        <p:nvGraphicFramePr>
          <p:cNvPr id="152" name="Table 151">
            <a:extLst>
              <a:ext uri="{FF2B5EF4-FFF2-40B4-BE49-F238E27FC236}">
                <a16:creationId xmlns:a16="http://schemas.microsoft.com/office/drawing/2014/main" id="{BEACA3E5-12DB-F0F8-9217-DD803322F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650282"/>
              </p:ext>
            </p:extLst>
          </p:nvPr>
        </p:nvGraphicFramePr>
        <p:xfrm>
          <a:off x="11065788" y="9812033"/>
          <a:ext cx="4997343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5470">
                  <a:extLst>
                    <a:ext uri="{9D8B030D-6E8A-4147-A177-3AD203B41FA5}">
                      <a16:colId xmlns:a16="http://schemas.microsoft.com/office/drawing/2014/main" val="2795315796"/>
                    </a:ext>
                  </a:extLst>
                </a:gridCol>
                <a:gridCol w="846565">
                  <a:extLst>
                    <a:ext uri="{9D8B030D-6E8A-4147-A177-3AD203B41FA5}">
                      <a16:colId xmlns:a16="http://schemas.microsoft.com/office/drawing/2014/main" val="2196146456"/>
                    </a:ext>
                  </a:extLst>
                </a:gridCol>
                <a:gridCol w="502198">
                  <a:extLst>
                    <a:ext uri="{9D8B030D-6E8A-4147-A177-3AD203B41FA5}">
                      <a16:colId xmlns:a16="http://schemas.microsoft.com/office/drawing/2014/main" val="2177673617"/>
                    </a:ext>
                  </a:extLst>
                </a:gridCol>
                <a:gridCol w="774821">
                  <a:extLst>
                    <a:ext uri="{9D8B030D-6E8A-4147-A177-3AD203B41FA5}">
                      <a16:colId xmlns:a16="http://schemas.microsoft.com/office/drawing/2014/main" val="1613395851"/>
                    </a:ext>
                  </a:extLst>
                </a:gridCol>
                <a:gridCol w="990049">
                  <a:extLst>
                    <a:ext uri="{9D8B030D-6E8A-4147-A177-3AD203B41FA5}">
                      <a16:colId xmlns:a16="http://schemas.microsoft.com/office/drawing/2014/main" val="421884414"/>
                    </a:ext>
                  </a:extLst>
                </a:gridCol>
                <a:gridCol w="1048240">
                  <a:extLst>
                    <a:ext uri="{9D8B030D-6E8A-4147-A177-3AD203B41FA5}">
                      <a16:colId xmlns:a16="http://schemas.microsoft.com/office/drawing/2014/main" val="2335112743"/>
                    </a:ext>
                  </a:extLst>
                </a:gridCol>
              </a:tblGrid>
              <a:tr h="193126"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statistics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072102"/>
                  </a:ext>
                </a:extLst>
              </a:tr>
              <a:tr h="321876">
                <a:tc>
                  <a:txBody>
                    <a:bodyPr/>
                    <a:lstStyle/>
                    <a:p>
                      <a:pPr algn="just"/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St.Deviation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Std.Error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Mean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204476"/>
                  </a:ext>
                </a:extLst>
              </a:tr>
              <a:tr h="193126">
                <a:tc rowSpan="2">
                  <a:txBody>
                    <a:bodyPr/>
                    <a:lstStyle/>
                    <a:p>
                      <a:pPr algn="just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97.2540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1.85340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.82886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896811"/>
                  </a:ext>
                </a:extLst>
              </a:tr>
              <a:tr h="193126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MEANS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84.7780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2.38090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1.06477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452750"/>
                  </a:ext>
                </a:extLst>
              </a:tr>
            </a:tbl>
          </a:graphicData>
        </a:graphic>
      </p:graphicFrame>
      <p:sp>
        <p:nvSpPr>
          <p:cNvPr id="154" name="TextBox 153">
            <a:extLst>
              <a:ext uri="{FF2B5EF4-FFF2-40B4-BE49-F238E27FC236}">
                <a16:creationId xmlns:a16="http://schemas.microsoft.com/office/drawing/2014/main" id="{0FFC92D1-5C7B-71C5-DD48-48B10CE6F4D3}"/>
              </a:ext>
            </a:extLst>
          </p:cNvPr>
          <p:cNvSpPr txBox="1"/>
          <p:nvPr/>
        </p:nvSpPr>
        <p:spPr>
          <a:xfrm>
            <a:off x="2589099" y="11134079"/>
            <a:ext cx="5538926" cy="1014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(97%) significantly outperforms SVM (84.5%) in high-frequency trading prediction (p = 0.005) for improving sentiment analysis.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A6AD376-A82C-4460-B7E9-54779AEDD499}"/>
              </a:ext>
            </a:extLst>
          </p:cNvPr>
          <p:cNvSpPr txBox="1"/>
          <p:nvPr/>
        </p:nvSpPr>
        <p:spPr>
          <a:xfrm>
            <a:off x="79827" y="11661393"/>
            <a:ext cx="2295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RNN VS SVM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6791F94-4893-090A-97C5-6E9D5A1BD062}"/>
              </a:ext>
            </a:extLst>
          </p:cNvPr>
          <p:cNvSpPr txBox="1"/>
          <p:nvPr/>
        </p:nvSpPr>
        <p:spPr>
          <a:xfrm>
            <a:off x="8710744" y="11627390"/>
            <a:ext cx="1865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RNN VS KMEANS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D23A17B-9260-6E80-E62E-761471744E73}"/>
              </a:ext>
            </a:extLst>
          </p:cNvPr>
          <p:cNvSpPr txBox="1"/>
          <p:nvPr/>
        </p:nvSpPr>
        <p:spPr>
          <a:xfrm>
            <a:off x="10806237" y="11270907"/>
            <a:ext cx="5652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(97%) significantly outperforms K-Means (85%) in high-frequency trading prediction (p = 0.005) for improving sentiment analysis.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A5577FA-C993-F744-8642-364D09456113}"/>
              </a:ext>
            </a:extLst>
          </p:cNvPr>
          <p:cNvSpPr txBox="1"/>
          <p:nvPr/>
        </p:nvSpPr>
        <p:spPr>
          <a:xfrm>
            <a:off x="3548835" y="9408138"/>
            <a:ext cx="368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Significance table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06C63A7-533A-9447-5ED7-5F7ADD7623C9}"/>
              </a:ext>
            </a:extLst>
          </p:cNvPr>
          <p:cNvSpPr txBox="1"/>
          <p:nvPr/>
        </p:nvSpPr>
        <p:spPr>
          <a:xfrm>
            <a:off x="12063124" y="9460076"/>
            <a:ext cx="295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Significance table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162" name="Table 161">
            <a:extLst>
              <a:ext uri="{FF2B5EF4-FFF2-40B4-BE49-F238E27FC236}">
                <a16:creationId xmlns:a16="http://schemas.microsoft.com/office/drawing/2014/main" id="{B9F9B4F1-49C2-245B-EC2E-709FF3065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860653"/>
              </p:ext>
            </p:extLst>
          </p:nvPr>
        </p:nvGraphicFramePr>
        <p:xfrm>
          <a:off x="2643723" y="24985008"/>
          <a:ext cx="5284907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546">
                  <a:extLst>
                    <a:ext uri="{9D8B030D-6E8A-4147-A177-3AD203B41FA5}">
                      <a16:colId xmlns:a16="http://schemas.microsoft.com/office/drawing/2014/main" val="2795315796"/>
                    </a:ext>
                  </a:extLst>
                </a:gridCol>
                <a:gridCol w="895279">
                  <a:extLst>
                    <a:ext uri="{9D8B030D-6E8A-4147-A177-3AD203B41FA5}">
                      <a16:colId xmlns:a16="http://schemas.microsoft.com/office/drawing/2014/main" val="2196146456"/>
                    </a:ext>
                  </a:extLst>
                </a:gridCol>
                <a:gridCol w="531096">
                  <a:extLst>
                    <a:ext uri="{9D8B030D-6E8A-4147-A177-3AD203B41FA5}">
                      <a16:colId xmlns:a16="http://schemas.microsoft.com/office/drawing/2014/main" val="2177673617"/>
                    </a:ext>
                  </a:extLst>
                </a:gridCol>
                <a:gridCol w="819407">
                  <a:extLst>
                    <a:ext uri="{9D8B030D-6E8A-4147-A177-3AD203B41FA5}">
                      <a16:colId xmlns:a16="http://schemas.microsoft.com/office/drawing/2014/main" val="1613395851"/>
                    </a:ext>
                  </a:extLst>
                </a:gridCol>
                <a:gridCol w="1047020">
                  <a:extLst>
                    <a:ext uri="{9D8B030D-6E8A-4147-A177-3AD203B41FA5}">
                      <a16:colId xmlns:a16="http://schemas.microsoft.com/office/drawing/2014/main" val="421884414"/>
                    </a:ext>
                  </a:extLst>
                </a:gridCol>
                <a:gridCol w="1108559">
                  <a:extLst>
                    <a:ext uri="{9D8B030D-6E8A-4147-A177-3AD203B41FA5}">
                      <a16:colId xmlns:a16="http://schemas.microsoft.com/office/drawing/2014/main" val="2335112743"/>
                    </a:ext>
                  </a:extLst>
                </a:gridCol>
              </a:tblGrid>
              <a:tr h="193126"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statistics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072102"/>
                  </a:ext>
                </a:extLst>
              </a:tr>
              <a:tr h="321876">
                <a:tc>
                  <a:txBody>
                    <a:bodyPr/>
                    <a:lstStyle/>
                    <a:p>
                      <a:pPr algn="just"/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St.Deviation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Std.Error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Mean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204476"/>
                  </a:ext>
                </a:extLst>
              </a:tr>
              <a:tr h="193126">
                <a:tc rowSpan="2">
                  <a:txBody>
                    <a:bodyPr/>
                    <a:lstStyle/>
                    <a:p>
                      <a:pPr algn="just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97.25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1.85340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.82886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896811"/>
                  </a:ext>
                </a:extLst>
              </a:tr>
              <a:tr h="193126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84.7780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2.38090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1.06477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452750"/>
                  </a:ext>
                </a:extLst>
              </a:tr>
            </a:tbl>
          </a:graphicData>
        </a:graphic>
      </p:graphicFrame>
      <p:sp>
        <p:nvSpPr>
          <p:cNvPr id="163" name="TextBox 162">
            <a:extLst>
              <a:ext uri="{FF2B5EF4-FFF2-40B4-BE49-F238E27FC236}">
                <a16:creationId xmlns:a16="http://schemas.microsoft.com/office/drawing/2014/main" id="{6D87D5DA-3A81-EFFB-9639-28DFAB96AFF3}"/>
              </a:ext>
            </a:extLst>
          </p:cNvPr>
          <p:cNvSpPr txBox="1"/>
          <p:nvPr/>
        </p:nvSpPr>
        <p:spPr>
          <a:xfrm>
            <a:off x="2589099" y="26404659"/>
            <a:ext cx="5381586" cy="1337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(97%) significantly outperforms RF (84.7%) in high-frequency trading prediction (p = 0.005) for the analysis of mental health.</a:t>
            </a:r>
          </a:p>
          <a:p>
            <a:pPr algn="just">
              <a:lnSpc>
                <a:spcPct val="114000"/>
              </a:lnSpc>
            </a:pPr>
            <a:endParaRPr lang="en-IN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A51CB4E-6E7F-F2A0-C998-97959987C11B}"/>
              </a:ext>
            </a:extLst>
          </p:cNvPr>
          <p:cNvSpPr txBox="1"/>
          <p:nvPr/>
        </p:nvSpPr>
        <p:spPr>
          <a:xfrm>
            <a:off x="197424" y="26679085"/>
            <a:ext cx="2061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RNN VS Random forest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BD0587A-2AA2-B278-92C7-F98D4EE8CC70}"/>
              </a:ext>
            </a:extLst>
          </p:cNvPr>
          <p:cNvSpPr txBox="1"/>
          <p:nvPr/>
        </p:nvSpPr>
        <p:spPr>
          <a:xfrm>
            <a:off x="4206240" y="24594589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Significance table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7" name="Table 166">
            <a:extLst>
              <a:ext uri="{FF2B5EF4-FFF2-40B4-BE49-F238E27FC236}">
                <a16:creationId xmlns:a16="http://schemas.microsoft.com/office/drawing/2014/main" id="{9A560C73-5076-9916-CCB6-AC7734B6E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106031"/>
              </p:ext>
            </p:extLst>
          </p:nvPr>
        </p:nvGraphicFramePr>
        <p:xfrm>
          <a:off x="10988314" y="25004887"/>
          <a:ext cx="4997343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5470">
                  <a:extLst>
                    <a:ext uri="{9D8B030D-6E8A-4147-A177-3AD203B41FA5}">
                      <a16:colId xmlns:a16="http://schemas.microsoft.com/office/drawing/2014/main" val="2795315796"/>
                    </a:ext>
                  </a:extLst>
                </a:gridCol>
                <a:gridCol w="846565">
                  <a:extLst>
                    <a:ext uri="{9D8B030D-6E8A-4147-A177-3AD203B41FA5}">
                      <a16:colId xmlns:a16="http://schemas.microsoft.com/office/drawing/2014/main" val="2196146456"/>
                    </a:ext>
                  </a:extLst>
                </a:gridCol>
                <a:gridCol w="502198">
                  <a:extLst>
                    <a:ext uri="{9D8B030D-6E8A-4147-A177-3AD203B41FA5}">
                      <a16:colId xmlns:a16="http://schemas.microsoft.com/office/drawing/2014/main" val="2177673617"/>
                    </a:ext>
                  </a:extLst>
                </a:gridCol>
                <a:gridCol w="774821">
                  <a:extLst>
                    <a:ext uri="{9D8B030D-6E8A-4147-A177-3AD203B41FA5}">
                      <a16:colId xmlns:a16="http://schemas.microsoft.com/office/drawing/2014/main" val="1613395851"/>
                    </a:ext>
                  </a:extLst>
                </a:gridCol>
                <a:gridCol w="990049">
                  <a:extLst>
                    <a:ext uri="{9D8B030D-6E8A-4147-A177-3AD203B41FA5}">
                      <a16:colId xmlns:a16="http://schemas.microsoft.com/office/drawing/2014/main" val="421884414"/>
                    </a:ext>
                  </a:extLst>
                </a:gridCol>
                <a:gridCol w="1048240">
                  <a:extLst>
                    <a:ext uri="{9D8B030D-6E8A-4147-A177-3AD203B41FA5}">
                      <a16:colId xmlns:a16="http://schemas.microsoft.com/office/drawing/2014/main" val="2335112743"/>
                    </a:ext>
                  </a:extLst>
                </a:gridCol>
              </a:tblGrid>
              <a:tr h="193126"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statistics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072102"/>
                  </a:ext>
                </a:extLst>
              </a:tr>
              <a:tr h="321876">
                <a:tc>
                  <a:txBody>
                    <a:bodyPr/>
                    <a:lstStyle/>
                    <a:p>
                      <a:pPr algn="just"/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St.Deviation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Std.Error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Mean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204476"/>
                  </a:ext>
                </a:extLst>
              </a:tr>
              <a:tr h="193126">
                <a:tc rowSpan="2">
                  <a:txBody>
                    <a:bodyPr/>
                    <a:lstStyle/>
                    <a:p>
                      <a:pPr algn="just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97.25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1.85340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.82886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896811"/>
                  </a:ext>
                </a:extLst>
              </a:tr>
              <a:tr h="193126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DQN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85.1780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3.03079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35541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452750"/>
                  </a:ext>
                </a:extLst>
              </a:tr>
            </a:tbl>
          </a:graphicData>
        </a:graphic>
      </p:graphicFrame>
      <p:sp>
        <p:nvSpPr>
          <p:cNvPr id="168" name="TextBox 167">
            <a:extLst>
              <a:ext uri="{FF2B5EF4-FFF2-40B4-BE49-F238E27FC236}">
                <a16:creationId xmlns:a16="http://schemas.microsoft.com/office/drawing/2014/main" id="{41F62B41-DF19-11AB-4789-CE49E5B53F3E}"/>
              </a:ext>
            </a:extLst>
          </p:cNvPr>
          <p:cNvSpPr txBox="1"/>
          <p:nvPr/>
        </p:nvSpPr>
        <p:spPr>
          <a:xfrm>
            <a:off x="11023600" y="26375955"/>
            <a:ext cx="5172560" cy="1014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(97%) significantly outperforms DQN (85.1%) in high-frequency trading prediction (p = 0.005) for mental health analysis.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90D7053-3D5B-A479-0687-5615BC9CAB2D}"/>
              </a:ext>
            </a:extLst>
          </p:cNvPr>
          <p:cNvSpPr txBox="1"/>
          <p:nvPr/>
        </p:nvSpPr>
        <p:spPr>
          <a:xfrm>
            <a:off x="11658731" y="24654199"/>
            <a:ext cx="328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Significance table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73A2EF6-A786-C064-EBC0-5D7940FC8971}"/>
              </a:ext>
            </a:extLst>
          </p:cNvPr>
          <p:cNvSpPr txBox="1"/>
          <p:nvPr/>
        </p:nvSpPr>
        <p:spPr>
          <a:xfrm>
            <a:off x="8654870" y="26827741"/>
            <a:ext cx="2006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RNN VS DQN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749CAAC-4DFB-7627-6613-C198C5D117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3637672" y="3801136"/>
            <a:ext cx="2662429" cy="1402509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32F02A35-AB3A-F001-2873-CEE860C2F6A4}"/>
              </a:ext>
            </a:extLst>
          </p:cNvPr>
          <p:cNvSpPr txBox="1"/>
          <p:nvPr/>
        </p:nvSpPr>
        <p:spPr>
          <a:xfrm>
            <a:off x="5782640" y="5359074"/>
            <a:ext cx="25195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Powered Mental Health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E9A48D-45D8-3325-C8DC-9DA5DA3CA526}"/>
              </a:ext>
            </a:extLst>
          </p:cNvPr>
          <p:cNvSpPr txBox="1"/>
          <p:nvPr/>
        </p:nvSpPr>
        <p:spPr>
          <a:xfrm>
            <a:off x="13820904" y="5370651"/>
            <a:ext cx="2375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Fig.1. Ai Powered Mental Health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2C63E68-7A7A-06BD-1858-CC75B5F426D9}"/>
              </a:ext>
            </a:extLst>
          </p:cNvPr>
          <p:cNvSpPr txBox="1"/>
          <p:nvPr/>
        </p:nvSpPr>
        <p:spPr>
          <a:xfrm>
            <a:off x="787079" y="8704166"/>
            <a:ext cx="6782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Fig.2.Flow chart representing AI Powered mental health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E2B2C67-E77D-9409-F8A1-B345AEF6F430}"/>
              </a:ext>
            </a:extLst>
          </p:cNvPr>
          <p:cNvSpPr txBox="1"/>
          <p:nvPr/>
        </p:nvSpPr>
        <p:spPr>
          <a:xfrm>
            <a:off x="8815442" y="8658778"/>
            <a:ext cx="754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Fig.2.Flow chart representing AI Powered mental health chatbox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CB6B5931-96C4-74FC-8E96-2778C85AB4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5973152" y="3949348"/>
            <a:ext cx="1929951" cy="1348243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928B1224-29CE-26F8-4A92-08DBFB3628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6243380" y="18964614"/>
            <a:ext cx="1685250" cy="1685250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AEA71382-C470-74E4-A410-4A5A87C9E3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14078412" y="19093017"/>
            <a:ext cx="2304769" cy="1335573"/>
          </a:xfrm>
          <a:prstGeom prst="rect">
            <a:avLst/>
          </a:prstGeom>
        </p:spPr>
      </p:pic>
      <p:sp>
        <p:nvSpPr>
          <p:cNvPr id="178" name="TextBox 177">
            <a:extLst>
              <a:ext uri="{FF2B5EF4-FFF2-40B4-BE49-F238E27FC236}">
                <a16:creationId xmlns:a16="http://schemas.microsoft.com/office/drawing/2014/main" id="{CEE25D0D-9F9F-47EA-C6E5-4D64B98D3FE4}"/>
              </a:ext>
            </a:extLst>
          </p:cNvPr>
          <p:cNvSpPr txBox="1"/>
          <p:nvPr/>
        </p:nvSpPr>
        <p:spPr>
          <a:xfrm>
            <a:off x="6018612" y="20683956"/>
            <a:ext cx="2230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Fig.1. Ai Powered Mental Health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3EEE6DF-97A9-59B6-0858-EC8F1428EE8C}"/>
              </a:ext>
            </a:extLst>
          </p:cNvPr>
          <p:cNvSpPr txBox="1"/>
          <p:nvPr/>
        </p:nvSpPr>
        <p:spPr>
          <a:xfrm>
            <a:off x="14167413" y="20591362"/>
            <a:ext cx="2215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Fig.1. Ai Powered Mental Health Chatbox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FF45284-4F0C-D8BC-4DAC-E2532241A369}"/>
              </a:ext>
            </a:extLst>
          </p:cNvPr>
          <p:cNvSpPr txBox="1"/>
          <p:nvPr/>
        </p:nvSpPr>
        <p:spPr>
          <a:xfrm>
            <a:off x="682906" y="23913298"/>
            <a:ext cx="7434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Fig.2. Ai Powered Mental Health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9430D37-078C-0C7A-5DDA-D185E0DB56C9}"/>
              </a:ext>
            </a:extLst>
          </p:cNvPr>
          <p:cNvSpPr txBox="1"/>
          <p:nvPr/>
        </p:nvSpPr>
        <p:spPr>
          <a:xfrm>
            <a:off x="8970380" y="23924873"/>
            <a:ext cx="728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Fig.2. Ai Powered Mental Health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81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</TotalTime>
  <Words>1326</Words>
  <Application>Microsoft Office PowerPoint</Application>
  <PresentationFormat>Custom</PresentationFormat>
  <Paragraphs>189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ranjith kumar r</cp:lastModifiedBy>
  <cp:revision>128</cp:revision>
  <dcterms:created xsi:type="dcterms:W3CDTF">2023-04-19T08:35:46Z</dcterms:created>
  <dcterms:modified xsi:type="dcterms:W3CDTF">2025-06-08T12:14:34Z</dcterms:modified>
</cp:coreProperties>
</file>